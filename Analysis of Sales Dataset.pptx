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84" r:id="rId4"/>
    <p:sldId id="258" r:id="rId5"/>
    <p:sldId id="261" r:id="rId6"/>
    <p:sldId id="259" r:id="rId7"/>
    <p:sldId id="262" r:id="rId8"/>
    <p:sldId id="263" r:id="rId9"/>
    <p:sldId id="264" r:id="rId10"/>
    <p:sldId id="265" r:id="rId11"/>
    <p:sldId id="268" r:id="rId12"/>
    <p:sldId id="266" r:id="rId13"/>
    <p:sldId id="267" r:id="rId14"/>
    <p:sldId id="269" r:id="rId15"/>
    <p:sldId id="270" r:id="rId16"/>
    <p:sldId id="271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1" r:id="rId26"/>
    <p:sldId id="282" r:id="rId27"/>
    <p:sldId id="260" r:id="rId28"/>
    <p:sldId id="28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9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092F"/>
    <a:srgbClr val="F2F2F2"/>
    <a:srgbClr val="5EABD6"/>
    <a:srgbClr val="F5EEDD"/>
    <a:srgbClr val="EFE1B5"/>
    <a:srgbClr val="FDEB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92" y="48"/>
      </p:cViewPr>
      <p:guideLst>
        <p:guide pos="3840"/>
        <p:guide pos="39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59977A-70B1-482A-8D3E-839FF85FC42B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42DBC-27D1-4F4C-BFFF-4040201DD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5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42DBC-27D1-4F4C-BFFF-4040201DD8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507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42DBC-27D1-4F4C-BFFF-4040201DD86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247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CFC85-4C88-8BA3-82E8-DA64B458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4689D5-8854-E5BD-8E5B-924C0D978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79120-381B-20C0-94F3-136571434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4D32C-B294-4A3B-4CA8-769C2BA5A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42DBC-27D1-4F4C-BFFF-4040201DD86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00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9018E-6687-97ED-EBFE-7E80834ECF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7F60DF-484F-FF77-060B-6BB8A5878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6287D-80F4-2F90-A32F-711AAE31A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AEB3F-5E30-B993-2F37-230B3D86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6C9A85-0AB9-DE6A-9C85-21CD22158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933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45D79-1CD5-4828-DF34-7F097477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54FF2C-B88B-4248-2C74-68B50A614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D4A3-5857-6692-B3EA-6A716BB72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DA504-A539-B88D-B7BE-618B03827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64E59-EF60-9BB1-6643-6894F05B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857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E6A5B-AF5F-BA5F-DF9A-280CABC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1C834-67FA-6EFA-5434-1F081187F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91066-EBFD-BD6C-091D-AD9BF73F5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C6D33-2B6C-6A3F-C3A1-6311EFDE0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0A78D-06CE-D6A7-8499-5EF6531A3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083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90D0E-8C09-EC26-5CC0-116D78A60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16FA9-79F1-0F96-F9B0-591AC8B267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608C3F-0BDF-539E-0793-C2D990BA5A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C7197-B6F6-0140-3B37-AF060F6FE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E32-F17F-6C60-1FC4-72CE6F494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E50074-F4C0-8089-638C-CD2E88072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14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6871-C7D2-91AE-C3C4-373EFD06A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EC280-B620-1265-A16F-2330C038A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9CC82B-11A3-BC24-8BC0-962D68C924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840B3-8849-663D-AE71-F5EF7D0FEB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056463-CA4D-E02B-251C-14DF3DF972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DD4EB9-D5C1-B8CD-6FA7-6F4FC5C88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8BD91-4246-E1D5-6E55-336D2A23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E6EBD-22C2-D3F4-E04C-CD75C3B1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069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72A26-7F70-4A32-31F2-C0821C84E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F48A9E-1DA6-4505-4847-3F97F8276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5EE5B-2E09-D35B-FFC4-12BB4FBC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C6B44B-B2A5-BF1B-FE4D-4ABA821E1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2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CEB8E6-1BF3-A521-4E3F-BC50B8051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4322C6-DDD4-2BE3-D18F-3C965902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128D5-BB9C-E138-1FFE-D961CA5CD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96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2137D-B483-A5F3-8F9D-488A9B3C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94C1C-C9FE-805F-ED00-9F6B55EC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3AA1B-4E6E-EA06-522A-534534709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84DC1-FCE8-FEA1-648C-628D0A7C1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6A132E-CE79-1DFC-BBDD-1944398E2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4D8C28-E8EC-0D0D-E74C-74D43F90B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7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AB589-20C0-BF9A-07C2-91925C99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B5339F-E93E-43FA-5A44-89DDCB5D8A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811E37-2349-A85D-1774-3CC521980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A69E1B-96A7-6D4F-95DE-D551F78C6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AED82-0631-5863-0C70-29B578783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9771EB-DA7B-E1C9-6631-41AAA14F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05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112D-1702-84CB-453B-0903AA427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151110-522A-F869-4842-B5EB83CA24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4A024-70E6-9D30-C987-AD9B9483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E5D40-B5E4-1BB4-F825-E5C0DA037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A33984-9EF3-9EFB-E3D8-3DCB80D10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614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F7F67-240C-9222-883A-9B4C9CDA5E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E4E3EA-B067-DA46-9CCE-F7F7D8641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20B42-C515-7EC5-C202-A1FB2EFA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18C4F-CAEF-14F7-395A-EEC235300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7D3D-53BE-D73A-FEB5-27540495F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94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424777-72E7-4C74-2818-5B8F84A9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8707D-1009-2406-E96D-B2A082E99F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5F51F-B76D-7F84-BB40-829A15A49F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097516-497A-426B-BEB6-ECFE4345A93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2B841-C321-7353-BF5D-ABEA98948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8C887-F7D4-1CDC-4D73-619E6497E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C78F6-4E32-46F8-A1A9-D90B48EAA4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013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sahilislam007/sales-datase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9A0FE-DF97-227D-CFAC-C6590064B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3939494"/>
          </a:xfrm>
        </p:spPr>
        <p:txBody>
          <a:bodyPr anchor="ctr">
            <a:noAutofit/>
          </a:bodyPr>
          <a:lstStyle/>
          <a:p>
            <a:r>
              <a:rPr lang="en-US" sz="124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Analysis of Sales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22D76-0338-7099-D7D0-B852FD50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91000"/>
            <a:ext cx="9144000" cy="106680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Grace Imanuela Ruttun Karoma’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2856430-66F5-EC69-724D-9986C51E8124}"/>
              </a:ext>
            </a:extLst>
          </p:cNvPr>
          <p:cNvCxnSpPr>
            <a:cxnSpLocks/>
          </p:cNvCxnSpPr>
          <p:nvPr/>
        </p:nvCxnSpPr>
        <p:spPr>
          <a:xfrm>
            <a:off x="1785257" y="1774370"/>
            <a:ext cx="8621486" cy="0"/>
          </a:xfrm>
          <a:prstGeom prst="line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239486-40C8-DFFB-CFD5-E246A5CFC770}"/>
              </a:ext>
            </a:extLst>
          </p:cNvPr>
          <p:cNvCxnSpPr>
            <a:cxnSpLocks/>
          </p:cNvCxnSpPr>
          <p:nvPr/>
        </p:nvCxnSpPr>
        <p:spPr>
          <a:xfrm>
            <a:off x="1785257" y="5214256"/>
            <a:ext cx="8621486" cy="0"/>
          </a:xfrm>
          <a:prstGeom prst="line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8699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C2060-4A62-D29D-B505-6048D8AE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Analysis Background (1)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A8F97AB-8926-8609-9CE0-958E6099D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257"/>
            <a:ext cx="10515600" cy="5246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Introduction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Sales is an exchange process of goods or services for currency. This analyst explores the sales patterns and behavior of various customers.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Contextual Framework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Sales historically involved trading a thing for another thing, known as “bartering.” But nowadays we use money to get things or services.</a:t>
            </a:r>
            <a:endParaRPr lang="en-US" sz="3600" b="1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  <a:p>
            <a:pPr marL="0" indent="0">
              <a:buNone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Rationale</a:t>
            </a:r>
            <a:r>
              <a:rPr lang="en-US" sz="36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This analyst aims to gain knowledge about the sales patterns and behaviors of the customers</a:t>
            </a:r>
          </a:p>
        </p:txBody>
      </p:sp>
    </p:spTree>
    <p:extLst>
      <p:ext uri="{BB962C8B-B14F-4D97-AF65-F5344CB8AC3E}">
        <p14:creationId xmlns:p14="http://schemas.microsoft.com/office/powerpoint/2010/main" val="124959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E064-3FF2-0C26-08C2-73D94381E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287A1-1801-0F97-22C4-211861093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Analysis Background (2)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FB198B-13A9-3810-2891-23AD50879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257"/>
            <a:ext cx="10515600" cy="5246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Object and Research Questions </a:t>
            </a:r>
          </a:p>
          <a:p>
            <a:pPr>
              <a:buSzPct val="70000"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How is the sales pattern based on the days?</a:t>
            </a:r>
          </a:p>
          <a:p>
            <a:pPr>
              <a:buSzPct val="70000"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Which gender has the biggest sales?</a:t>
            </a:r>
          </a:p>
          <a:p>
            <a:pPr>
              <a:buSzPct val="70000"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Which quarter has the biggest sales?</a:t>
            </a:r>
          </a:p>
          <a:p>
            <a:pPr>
              <a:buSzPct val="70000"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Which generation has the biggest sales, and what product categories do they spend the most on?</a:t>
            </a:r>
          </a:p>
          <a:p>
            <a:pPr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Which product category has the biggest sales?</a:t>
            </a:r>
          </a:p>
          <a:p>
            <a:pPr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How is the sales growth?</a:t>
            </a:r>
          </a:p>
        </p:txBody>
      </p:sp>
    </p:spTree>
    <p:extLst>
      <p:ext uri="{BB962C8B-B14F-4D97-AF65-F5344CB8AC3E}">
        <p14:creationId xmlns:p14="http://schemas.microsoft.com/office/powerpoint/2010/main" val="2524469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14D45-FF09-29FF-1C6D-01FA5EB7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6AAB6-0085-4B66-ACEF-0E1832BCA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DA4AF-8A61-820E-1445-B48CD776E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257"/>
            <a:ext cx="10515600" cy="524691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 dataset is from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Kaggle.com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</a:p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There is a sales dataset table with 8 columns, there are: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Unnamed: 0		= Auto index 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Date			= The date the transaction occurred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Gender		= The gender of the customers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Age			= The age of the customers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Product Category	= The category of the products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Quantity		= The number of products purchased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Price per unit		= Price of the single products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Total Amount	= Total sales of the products (quantity x price per unit)</a:t>
            </a:r>
          </a:p>
          <a:p>
            <a:pPr marL="0" indent="0">
              <a:buSzPct val="50000"/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There are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1000 rows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and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8 columns</a:t>
            </a:r>
          </a:p>
        </p:txBody>
      </p:sp>
    </p:spTree>
    <p:extLst>
      <p:ext uri="{BB962C8B-B14F-4D97-AF65-F5344CB8AC3E}">
        <p14:creationId xmlns:p14="http://schemas.microsoft.com/office/powerpoint/2010/main" val="804439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CFC5F-4E53-6CDD-1820-317AFCD4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3CF8-6733-6D11-4BA6-2D7408ADD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194F7-9288-2B7D-5C04-150E50C17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257"/>
            <a:ext cx="10515600" cy="5246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Dataset table preview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A635B-FE8C-861D-3A3C-2E88030650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669"/>
          <a:stretch>
            <a:fillRect/>
          </a:stretch>
        </p:blipFill>
        <p:spPr>
          <a:xfrm>
            <a:off x="838200" y="1956876"/>
            <a:ext cx="10352520" cy="45251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1595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8745-909A-C8E7-AEEC-A82AF6246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F99DD-4AC9-9788-278A-8758C67EC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Tools &amp; Libraries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9AEF1A-7C8F-27C7-E7F9-4A80D1F48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6401" y="2489116"/>
            <a:ext cx="1384127" cy="138412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9F4B62-A726-29E5-A54C-F2520D07C9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766" y="4250430"/>
            <a:ext cx="1625396" cy="16253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8F4F01-43BD-C507-E4AC-14C6FE110C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2311" y="4908745"/>
            <a:ext cx="1185782" cy="15841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079E7D-830B-077E-F4D0-AC4852F51D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060" y="3555730"/>
            <a:ext cx="975033" cy="9750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103738-D31E-758F-A1CD-99AFE32F6B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060" y="2240662"/>
            <a:ext cx="940518" cy="94051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CC4325A-10F1-3EDE-79B6-6BE830F9E188}"/>
              </a:ext>
            </a:extLst>
          </p:cNvPr>
          <p:cNvSpPr txBox="1"/>
          <p:nvPr/>
        </p:nvSpPr>
        <p:spPr>
          <a:xfrm>
            <a:off x="3015343" y="1581126"/>
            <a:ext cx="138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Tools</a:t>
            </a:r>
            <a:endParaRPr lang="en-US" sz="4400" b="1" dirty="0">
              <a:solidFill>
                <a:srgbClr val="BF092F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560743-EB3B-D056-EFC7-7A986468D04D}"/>
              </a:ext>
            </a:extLst>
          </p:cNvPr>
          <p:cNvSpPr txBox="1"/>
          <p:nvPr/>
        </p:nvSpPr>
        <p:spPr>
          <a:xfrm>
            <a:off x="7096401" y="1690688"/>
            <a:ext cx="138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Libraries</a:t>
            </a:r>
            <a:endParaRPr lang="en-US" sz="4400" b="1" dirty="0">
              <a:solidFill>
                <a:srgbClr val="BF092F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863177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A01BA-EF91-4D87-B2F8-232120C98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0505"/>
            <a:ext cx="10515600" cy="457699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Exploration</a:t>
            </a:r>
            <a:br>
              <a:rPr lang="en-US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</a:br>
            <a:r>
              <a:rPr lang="en-US" sz="6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Anomalies</a:t>
            </a:r>
            <a:endParaRPr lang="en-US" b="1" dirty="0">
              <a:solidFill>
                <a:srgbClr val="BF092F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29064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50FEE-1C6A-A789-D7A8-702E2C4F6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B3364-6EC0-C654-3D0D-4FBC4778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Column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8871A-E75F-4684-B3D5-A657970271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4637314" cy="19267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There are 8 columns in this table. And there is one column that has an unnamed name.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ADB9E-DCBF-497C-BB9B-81DAAE7E5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115" y="1558942"/>
            <a:ext cx="6596743" cy="16174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1379377-0346-AE1F-69DC-F6A2E65DBAFA}"/>
              </a:ext>
            </a:extLst>
          </p:cNvPr>
          <p:cNvSpPr txBox="1">
            <a:spLocks/>
          </p:cNvSpPr>
          <p:nvPr/>
        </p:nvSpPr>
        <p:spPr>
          <a:xfrm>
            <a:off x="685800" y="3766458"/>
            <a:ext cx="10189030" cy="10232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That is why the unnamed column name changed to the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“Row Number”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column.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4959F3-A1FC-1479-DC7F-16BF2E5BA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147" y="4903143"/>
            <a:ext cx="10840963" cy="12670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0192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EC9B7-7D00-9422-04CA-906FA3771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7D4F7-2560-C1F1-F82B-428BE0ECD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Column Datatypes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B6412-30DF-8D65-6DFF-DB5A2032A4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 8 columns of data types have one column with incorrect datatypes.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60C53A-C8E5-A818-893C-D773D10AF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70" y="2072676"/>
            <a:ext cx="4093029" cy="33076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DA0AF99-AE61-38B6-EFF3-5812C1CD0B2A}"/>
              </a:ext>
            </a:extLst>
          </p:cNvPr>
          <p:cNvSpPr txBox="1">
            <a:spLocks/>
          </p:cNvSpPr>
          <p:nvPr/>
        </p:nvSpPr>
        <p:spPr>
          <a:xfrm>
            <a:off x="5116288" y="2061191"/>
            <a:ext cx="6368142" cy="1707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 column with incorrect datatypes is the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Date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column. The datatype should be a datetime datatype.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9E9930-AE67-A9EA-7DF0-1B4E50865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288" y="3621203"/>
            <a:ext cx="5583501" cy="10365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7553BB6-BEC8-F005-824C-38E1EDC42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6288" y="4886979"/>
            <a:ext cx="5973009" cy="3715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7828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53B55-788F-E8C2-71F8-CDB0412A5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D11BF-DD5A-0FAC-CD59-8B9B6E6DC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Column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3EF5A-D7F1-C4A2-C484-5F2A7DFA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Row Number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column values start with 0. Because there are 1000 rows, the last row number will be 999.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753916D-3C50-6169-F7AD-D83F978010D8}"/>
              </a:ext>
            </a:extLst>
          </p:cNvPr>
          <p:cNvSpPr txBox="1">
            <a:spLocks/>
          </p:cNvSpPr>
          <p:nvPr/>
        </p:nvSpPr>
        <p:spPr>
          <a:xfrm>
            <a:off x="685801" y="4539260"/>
            <a:ext cx="10515600" cy="1098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Instead of starting with 0 and ending with 999. It will be better if the row number starts with 1 and ends with 1000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EF24B9-2C6B-885A-24FF-40C07F60F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71" y="5453742"/>
            <a:ext cx="7273678" cy="12018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F19C5C2-35B7-8078-4C05-5E7B13334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242"/>
          <a:stretch>
            <a:fillRect/>
          </a:stretch>
        </p:blipFill>
        <p:spPr>
          <a:xfrm>
            <a:off x="707571" y="2342960"/>
            <a:ext cx="9080208" cy="21309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41929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ACE22-1956-6C60-5367-564B93EE7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306EA-2147-EB39-BD45-D47C6DA18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Null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9D2CF-48DF-FFE9-6521-144D03C0B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Based on the data preview, there are no null values.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6196E1-F86C-1750-B799-348EFE4EB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257" y="2474356"/>
            <a:ext cx="3296110" cy="406774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0A9064-D026-4ACB-4B6A-35F00C51E7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571" y="2474356"/>
            <a:ext cx="4495050" cy="36325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530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69A21-B5D0-C5FD-A072-FB4F1BA77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17FCC-E30D-2730-A9D9-68D399D7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Duplication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78F4D-1B7D-9753-1C20-B6D13D2C8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 duplication can occur for many reasons, like human error, system integration issues, data entry variations, merging data from many sources, etc.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FE7C05-B18A-7B5F-98AA-CE9C7E635F04}"/>
              </a:ext>
            </a:extLst>
          </p:cNvPr>
          <p:cNvSpPr txBox="1">
            <a:spLocks/>
          </p:cNvSpPr>
          <p:nvPr/>
        </p:nvSpPr>
        <p:spPr>
          <a:xfrm>
            <a:off x="685801" y="2503366"/>
            <a:ext cx="10515600" cy="1098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Instead of dropping the duplicates immediately, it is better to show the duplicates to know the reason for the duplicates.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FE8583-6879-741D-D515-1F7CB5818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538828"/>
            <a:ext cx="6744641" cy="11622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0588CF-8ED4-117D-B221-064F53DF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299" y="3116429"/>
            <a:ext cx="2900101" cy="337644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FF8D84-456E-69C9-56A1-BEDAD3EC0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1" y="4804652"/>
            <a:ext cx="4862309" cy="179183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7078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8A5B1-173B-B5C6-B7EF-80C3B431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AFD01-5F74-A2A3-5E29-E553187C6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Anomalies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262B-AE30-01AE-CC0F-178F6D553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488768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The unnamed column changed to the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Row Number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column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The date datatype from the object datatype changed to the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datetime datatype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The row number starting with 0 and ending with 999 changed to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1 to 1000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There are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no null values</a:t>
            </a:r>
          </a:p>
          <a:p>
            <a:pPr>
              <a:buSzPct val="5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There are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no data duplications</a:t>
            </a:r>
          </a:p>
        </p:txBody>
      </p:sp>
    </p:spTree>
    <p:extLst>
      <p:ext uri="{BB962C8B-B14F-4D97-AF65-F5344CB8AC3E}">
        <p14:creationId xmlns:p14="http://schemas.microsoft.com/office/powerpoint/2010/main" val="1195673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6A1C1-1966-0227-1D3C-8F9ADD9B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67CFF-0234-AA0C-805F-79AD2BD92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Before and After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B6D8E-B50C-54A6-05C1-25B706531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5878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Before dealing with data anomalies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9DC49E-561E-10D0-C1DC-3A9668098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2" y="1992086"/>
            <a:ext cx="7033318" cy="28738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C4F507-6F75-D16A-3091-620D99BC9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628" y="1992086"/>
            <a:ext cx="4071169" cy="31755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4107225-7C13-E7C5-7121-8F5C12311E52}"/>
              </a:ext>
            </a:extLst>
          </p:cNvPr>
          <p:cNvSpPr txBox="1">
            <a:spLocks/>
          </p:cNvSpPr>
          <p:nvPr/>
        </p:nvSpPr>
        <p:spPr>
          <a:xfrm>
            <a:off x="696686" y="5167312"/>
            <a:ext cx="10798628" cy="1690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BF092F"/>
              </a:buClr>
              <a:buSzPct val="10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Unnamed column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“Unnamed: 0”</a:t>
            </a:r>
          </a:p>
          <a:p>
            <a:pPr>
              <a:buClr>
                <a:srgbClr val="BF092F"/>
              </a:buClr>
              <a:buSzPct val="100000"/>
            </a:pP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Wrong datatype for Date column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“Object”</a:t>
            </a:r>
            <a:endParaRPr lang="en-US" sz="36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4940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92EAB-705E-646E-CA10-335F9F4E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7FF84-CE77-8AC9-C8CD-2C687E78B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Before and After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99FA2-F779-FD8C-45E0-7E5D38214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404257"/>
            <a:ext cx="10798628" cy="58782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After dealing with data anomalies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F21E9F-ADAB-5E34-83A5-8AE2F6378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823" y="1992086"/>
            <a:ext cx="4035973" cy="278674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3D4EBB-C10E-DEAF-1E07-27A497071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1" y="1992086"/>
            <a:ext cx="7008880" cy="28738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71CB481-0E85-6F4E-11B4-8E056FB54C51}"/>
              </a:ext>
            </a:extLst>
          </p:cNvPr>
          <p:cNvSpPr txBox="1">
            <a:spLocks/>
          </p:cNvSpPr>
          <p:nvPr/>
        </p:nvSpPr>
        <p:spPr>
          <a:xfrm>
            <a:off x="696686" y="5167313"/>
            <a:ext cx="10798628" cy="160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BF092F"/>
              </a:buClr>
              <a:buSzPct val="10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Change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“Unnamed: 0”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to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“Row Number”</a:t>
            </a:r>
          </a:p>
          <a:p>
            <a:pPr>
              <a:buClr>
                <a:srgbClr val="BF092F"/>
              </a:buClr>
              <a:buSzPct val="10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Change date datatype from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“Object”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to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“Datetime”</a:t>
            </a:r>
          </a:p>
        </p:txBody>
      </p:sp>
    </p:spTree>
    <p:extLst>
      <p:ext uri="{BB962C8B-B14F-4D97-AF65-F5344CB8AC3E}">
        <p14:creationId xmlns:p14="http://schemas.microsoft.com/office/powerpoint/2010/main" val="40467823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1791-6BD5-3872-7279-4CC2B50C6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E9788-25C1-06E4-573B-276CADF07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0505"/>
            <a:ext cx="10515600" cy="457699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Exploration</a:t>
            </a:r>
            <a:br>
              <a:rPr lang="en-US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</a:br>
            <a:r>
              <a:rPr lang="en-US" sz="6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Transformation</a:t>
            </a:r>
            <a:endParaRPr lang="en-US" b="1" dirty="0">
              <a:solidFill>
                <a:srgbClr val="BF092F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806851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B055D-EBB4-0307-DDFE-E16944306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D6493-7865-6989-0672-7C2A5AA4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Days Sales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EC123D-3615-8B45-DE4E-7459E2D49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8942" y="990600"/>
            <a:ext cx="6204857" cy="5660571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Monday and Tuesday are the biggest sales by quantity, contributing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31%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of the total quantity.</a:t>
            </a:r>
          </a:p>
          <a:p>
            <a:pPr marL="0" indent="0" algn="just">
              <a:buNone/>
            </a:pPr>
            <a:endParaRPr lang="en-US" sz="36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It happened because there was an early product promotion, restock cycles, customers’ weekly needs reset, customers’ salary effect, and many more.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86AA1-7801-7574-6BB7-3E2B615BC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21" y="1777957"/>
            <a:ext cx="4199595" cy="40858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42545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C55ED6-20A9-95CD-94DD-9684D203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9317D-6A46-8891-25C7-B497EFEF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Gender Sales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749960-3B9D-C08E-2BBE-11840486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514" y="1690689"/>
            <a:ext cx="6640286" cy="2206397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Female customers contributed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51%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of the total customers, while male customers contributed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49%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of the total customers.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12AAB45-8F32-B57C-A552-5785A10625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84" t="2022" r="5625" b="4185"/>
          <a:stretch>
            <a:fillRect/>
          </a:stretch>
        </p:blipFill>
        <p:spPr>
          <a:xfrm>
            <a:off x="359229" y="1589315"/>
            <a:ext cx="4071257" cy="4038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0DC2B0-7EF9-D748-5EF4-8634AF77B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849919"/>
            <a:ext cx="3428623" cy="18868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5340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AECFA-866D-6A8E-D739-66B8A6A25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0C98B-23A5-EC2D-394F-7366B79CB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Quarter Sales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A430E7-B3C3-3EC1-5588-677B6F74C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599" y="5007429"/>
            <a:ext cx="11789229" cy="1850571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Q4 is the highest sales period, contributing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29%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of the total sales due to big holidays like Halloween, Thanksgiving, Black Friday, Christmas, and New Year’s Eve. </a:t>
            </a: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Q2 contributed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28%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, also due to big holidays like Easter, Mother’s Day, and Father’s Day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A7900D-1FAB-E9A7-CFB7-8D69FE162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005" y="1309918"/>
            <a:ext cx="6687990" cy="35959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8451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4EDCC-F75B-09D8-93BB-953364DCD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35C88-420F-99EF-574E-61DB190D1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Age Segment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7173-DCF1-2D53-6D57-8A4B036BF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3375"/>
            <a:ext cx="5350383" cy="4134025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52093A3-754B-8257-939C-9A18C8DAB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8942" y="990600"/>
            <a:ext cx="6204857" cy="5660571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Adults are the highest spending age category, contributing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42.56%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of the total sales.</a:t>
            </a:r>
          </a:p>
          <a:p>
            <a:pPr marL="0" indent="0" algn="just">
              <a:buNone/>
            </a:pPr>
            <a:endParaRPr lang="en-US" sz="36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Adults are spending more because due to more responsibilities, such as supporting the household, children’s lifestyle, children’s education, and their own lifestyle.</a:t>
            </a:r>
          </a:p>
        </p:txBody>
      </p:sp>
    </p:spTree>
    <p:extLst>
      <p:ext uri="{BB962C8B-B14F-4D97-AF65-F5344CB8AC3E}">
        <p14:creationId xmlns:p14="http://schemas.microsoft.com/office/powerpoint/2010/main" val="23138313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E5D09-EE70-CA7F-15B9-4FAE85E3F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F018-CC9B-B884-937D-A4E6B9B4C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Product Category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5A8B05F-5C81-81E1-957D-5D84CD4F3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5" y="5236030"/>
            <a:ext cx="11832772" cy="1511752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Electronics contributed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34%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of the total sales, making it the highest product category sales. It happened because of household expenses. And consistent with adults’ spending.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8D88E8-70EC-B45E-F9F4-9006382D37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83"/>
          <a:stretch>
            <a:fillRect/>
          </a:stretch>
        </p:blipFill>
        <p:spPr>
          <a:xfrm>
            <a:off x="2738359" y="1458686"/>
            <a:ext cx="6715282" cy="3614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750215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6F87D-0444-41AA-7B8A-96228011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1496-7246-FD77-18EA-29CF0EACE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Age Segment by Product Category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1853CC-2E42-6273-37EB-ED3C43441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0114" y="1262743"/>
            <a:ext cx="4060374" cy="5230132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Adults tend to spend more on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Electronics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due to household needs.</a:t>
            </a: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Young adults tend to spend more on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clothing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due to the influence of fashion trends.</a:t>
            </a: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Seniors tend to spend more on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electronics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for health tools and entertainment.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F0BEF-C6BA-9C52-D0B2-04E93C664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40" y="1690687"/>
            <a:ext cx="7794173" cy="418541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29346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72DF3-EF66-3A51-A707-B07EAD79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45ED1-2268-420B-B8FA-B607BE223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Monthly Growth (1)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E23AD9-D022-1FBE-61AA-26C173CD9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4" y="1480457"/>
            <a:ext cx="4876799" cy="4593771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May 2023 contributed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14.42%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of the yearly total sales. </a:t>
            </a: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It happened because online sales increased to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2.7%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, motor demand increased to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1.4%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, and demand for summer clothes and outdoor goods increased due to the summer season.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931F74-9A1F-9B87-87A8-00C9AA06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583" y="1690688"/>
            <a:ext cx="6695702" cy="35770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324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F3DE9-F9C9-A5D1-9DBB-20528C9F4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BCF71-2A9B-ECDD-3C96-EF4145BA5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Monthly Growth (2)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275642-19C7-C5F3-3ECC-191C49CE8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4" y="1480457"/>
            <a:ext cx="4876799" cy="5094514"/>
          </a:xfrm>
        </p:spPr>
        <p:txBody>
          <a:bodyPr anchor="ctr">
            <a:normAutofit lnSpcReduction="10000"/>
          </a:bodyPr>
          <a:lstStyle/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In September 2023, sales dropped contributed only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3%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for the yearly sales. </a:t>
            </a: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There are a few categories were falling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0.9%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falling retail sales,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2.2%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online store falling, and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1.9%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falling non-food sales. </a:t>
            </a:r>
          </a:p>
          <a:p>
            <a:pPr marL="0" indent="0" algn="just">
              <a:buNone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It happened due to the continuous cost-of-living pressure from autumn to winter.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94B6BB-BE29-3497-4875-3C35E4466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583" y="1690688"/>
            <a:ext cx="6695702" cy="35770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0072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C7A3-F6D4-7272-04C6-8DA6DA5E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47009-8D79-07E3-6C93-01686EDC0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0505"/>
            <a:ext cx="10515600" cy="457699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Exploration</a:t>
            </a:r>
            <a:br>
              <a:rPr lang="en-US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</a:br>
            <a:r>
              <a:rPr lang="en-US" sz="6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Data Dashboard</a:t>
            </a:r>
            <a:endParaRPr lang="en-US" b="1" dirty="0">
              <a:solidFill>
                <a:srgbClr val="BF092F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9458122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C0E5-E240-DFC5-CC03-327E77E5B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A5F5D1-40E2-9A84-389B-B77B410DA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764" y="217741"/>
            <a:ext cx="11144471" cy="642251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70003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74B12-ED23-E77B-0F52-2D914056D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2C8BD-2873-2DB3-D481-31F16D68A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Summary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F00103-C88A-2DC5-E2DF-1751A895F9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257"/>
            <a:ext cx="10515600" cy="5246914"/>
          </a:xfrm>
        </p:spPr>
        <p:txBody>
          <a:bodyPr>
            <a:normAutofit/>
          </a:bodyPr>
          <a:lstStyle/>
          <a:p>
            <a:pPr algn="just"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Monday and Tuesday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share the biggest sales of the week</a:t>
            </a:r>
          </a:p>
          <a:p>
            <a:pPr algn="just"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Females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contributed most of the sales, even though there isn’t a big difference from males.</a:t>
            </a:r>
          </a:p>
          <a:p>
            <a:pPr algn="just"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Q4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shares the biggest sales of the year</a:t>
            </a:r>
          </a:p>
          <a:p>
            <a:pPr algn="just"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Adults (35 -54 years old)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share the biggest sales, and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electronics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are the most popular for adults</a:t>
            </a:r>
          </a:p>
          <a:p>
            <a:pPr algn="just"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Electronics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share the biggest sales</a:t>
            </a:r>
          </a:p>
          <a:p>
            <a:pPr algn="just">
              <a:buClr>
                <a:srgbClr val="BF092F"/>
              </a:buClr>
              <a:buSzPct val="70000"/>
            </a:pP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May 2023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is the highest sales of the month, and </a:t>
            </a:r>
            <a:r>
              <a:rPr lang="en-US" sz="36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September 2023 </a:t>
            </a:r>
            <a:r>
              <a:rPr lang="en-US" sz="36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is the lowest sales of the month</a:t>
            </a:r>
          </a:p>
        </p:txBody>
      </p:sp>
    </p:spTree>
    <p:extLst>
      <p:ext uri="{BB962C8B-B14F-4D97-AF65-F5344CB8AC3E}">
        <p14:creationId xmlns:p14="http://schemas.microsoft.com/office/powerpoint/2010/main" val="4217526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1C0A3-9314-BB20-0330-35FD64156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1C7E4-D666-19BE-3201-3CB6BB8B15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2258"/>
            <a:ext cx="12192000" cy="6215742"/>
          </a:xfrm>
        </p:spPr>
        <p:txBody>
          <a:bodyPr anchor="ctr">
            <a:noAutofit/>
          </a:bodyPr>
          <a:lstStyle/>
          <a:p>
            <a:r>
              <a:rPr lang="en-US" sz="12400" b="1" dirty="0">
                <a:solidFill>
                  <a:srgbClr val="BF092F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Thank You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8E57A00-FDF0-9DEF-6363-873E94A65136}"/>
              </a:ext>
            </a:extLst>
          </p:cNvPr>
          <p:cNvCxnSpPr>
            <a:cxnSpLocks/>
          </p:cNvCxnSpPr>
          <p:nvPr/>
        </p:nvCxnSpPr>
        <p:spPr>
          <a:xfrm>
            <a:off x="1785257" y="1774370"/>
            <a:ext cx="8621486" cy="0"/>
          </a:xfrm>
          <a:prstGeom prst="line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1C15A1-CCA4-9432-2672-63303DF14289}"/>
              </a:ext>
            </a:extLst>
          </p:cNvPr>
          <p:cNvCxnSpPr>
            <a:cxnSpLocks/>
          </p:cNvCxnSpPr>
          <p:nvPr/>
        </p:nvCxnSpPr>
        <p:spPr>
          <a:xfrm>
            <a:off x="1785257" y="5214256"/>
            <a:ext cx="8621486" cy="0"/>
          </a:xfrm>
          <a:prstGeom prst="line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468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1042</Words>
  <Application>Microsoft Office PowerPoint</Application>
  <PresentationFormat>Widescreen</PresentationFormat>
  <Paragraphs>99</Paragraphs>
  <Slides>28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Arabic Typesetting</vt:lpstr>
      <vt:lpstr>Arial</vt:lpstr>
      <vt:lpstr>Calibri</vt:lpstr>
      <vt:lpstr>Calibri Light</vt:lpstr>
      <vt:lpstr>Office Theme</vt:lpstr>
      <vt:lpstr>Analysis of Sales Dataset</vt:lpstr>
      <vt:lpstr>Analysis Background (1)</vt:lpstr>
      <vt:lpstr>Analysis Background (2)</vt:lpstr>
      <vt:lpstr>Dataset</vt:lpstr>
      <vt:lpstr>Dataset</vt:lpstr>
      <vt:lpstr>Tools &amp; Libraries</vt:lpstr>
      <vt:lpstr>Data Exploration Data Anomalies</vt:lpstr>
      <vt:lpstr>Column Names</vt:lpstr>
      <vt:lpstr>Column Datatypes</vt:lpstr>
      <vt:lpstr>Column Values</vt:lpstr>
      <vt:lpstr>Null Values</vt:lpstr>
      <vt:lpstr>Data Duplication</vt:lpstr>
      <vt:lpstr>Data Anomalies Conclusions</vt:lpstr>
      <vt:lpstr>Data Before and After</vt:lpstr>
      <vt:lpstr>Data Before and After</vt:lpstr>
      <vt:lpstr>Data Exploration Data Transformation</vt:lpstr>
      <vt:lpstr>Days Sales</vt:lpstr>
      <vt:lpstr>Gender Sales</vt:lpstr>
      <vt:lpstr>Quarter Sales</vt:lpstr>
      <vt:lpstr>Age Segment</vt:lpstr>
      <vt:lpstr>Product Category</vt:lpstr>
      <vt:lpstr>Age Segment by Product Category</vt:lpstr>
      <vt:lpstr>Monthly Growth (1)</vt:lpstr>
      <vt:lpstr>Monthly Growth (2)</vt:lpstr>
      <vt:lpstr>Data Exploration Data Dashboard</vt:lpstr>
      <vt:lpstr>PowerPoint Presentation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Imanuela</dc:creator>
  <cp:lastModifiedBy>Grace Imanuela</cp:lastModifiedBy>
  <cp:revision>62</cp:revision>
  <dcterms:created xsi:type="dcterms:W3CDTF">2026-01-12T02:22:22Z</dcterms:created>
  <dcterms:modified xsi:type="dcterms:W3CDTF">2026-02-02T05:20:14Z</dcterms:modified>
</cp:coreProperties>
</file>